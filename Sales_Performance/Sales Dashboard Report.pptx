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287" r:id="rId6"/>
    <p:sldId id="290" r:id="rId7"/>
    <p:sldId id="282" r:id="rId8"/>
    <p:sldId id="288" r:id="rId9"/>
    <p:sldId id="283" r:id="rId10"/>
    <p:sldId id="289" r:id="rId11"/>
    <p:sldId id="285" r:id="rId12"/>
    <p:sldId id="2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1A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4/15/2025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4/15/2025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4/15/2025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1356" cy="6858000"/>
          </a:xfrm>
          <a:prstGeom prst="rect">
            <a:avLst/>
          </a:prstGeom>
          <a:ln>
            <a:noFill/>
          </a:ln>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276289" y="1673157"/>
            <a:ext cx="3598746" cy="2365443"/>
          </a:xfrm>
        </p:spPr>
        <p:txBody>
          <a:bodyPr>
            <a:noAutofit/>
          </a:bodyPr>
          <a:lstStyle/>
          <a:p>
            <a:pPr algn="l"/>
            <a:r>
              <a:rPr lang="en-US" b="1" dirty="0">
                <a:solidFill>
                  <a:schemeClr val="tx1"/>
                </a:solidFill>
              </a:rPr>
              <a:t>Here is Business Problem.</a:t>
            </a:r>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22BAB0-DC2A-9AF4-CB2B-43A17053F804}"/>
              </a:ext>
            </a:extLst>
          </p:cNvPr>
          <p:cNvSpPr txBox="1"/>
          <p:nvPr/>
        </p:nvSpPr>
        <p:spPr>
          <a:xfrm>
            <a:off x="563597" y="1607538"/>
            <a:ext cx="10553700" cy="3416320"/>
          </a:xfrm>
          <a:prstGeom prst="rect">
            <a:avLst/>
          </a:prstGeom>
          <a:solidFill>
            <a:schemeClr val="tx1"/>
          </a:solidFill>
        </p:spPr>
        <p:txBody>
          <a:bodyPr wrap="square">
            <a:spAutoFit/>
          </a:bodyPr>
          <a:lstStyle/>
          <a:p>
            <a:pPr>
              <a:buNone/>
            </a:pPr>
            <a:endParaRPr lang="en-US" sz="3600" b="1" dirty="0">
              <a:solidFill>
                <a:srgbClr val="0D1A73"/>
              </a:solidFill>
            </a:endParaRPr>
          </a:p>
          <a:p>
            <a:pPr>
              <a:buNone/>
            </a:pPr>
            <a:r>
              <a:rPr lang="en-US" sz="3600" b="1" dirty="0">
                <a:solidFill>
                  <a:srgbClr val="0D1A73"/>
                </a:solidFill>
              </a:rPr>
              <a:t>Project Name</a:t>
            </a:r>
          </a:p>
          <a:p>
            <a:r>
              <a:rPr lang="en-US" sz="3600" dirty="0">
                <a:solidFill>
                  <a:srgbClr val="0D1A73"/>
                </a:solidFill>
              </a:rPr>
              <a:t>Sales Performance Analysis Report.</a:t>
            </a:r>
          </a:p>
          <a:p>
            <a:endParaRPr lang="en-US" sz="3600" b="1" dirty="0">
              <a:solidFill>
                <a:srgbClr val="0D1A73"/>
              </a:solidFill>
            </a:endParaRPr>
          </a:p>
          <a:p>
            <a:pPr>
              <a:buNone/>
            </a:pPr>
            <a:r>
              <a:rPr lang="en-US" sz="3600" b="1" dirty="0">
                <a:solidFill>
                  <a:srgbClr val="0D1A73"/>
                </a:solidFill>
              </a:rPr>
              <a:t>Name</a:t>
            </a:r>
            <a:r>
              <a:rPr lang="en-US" sz="3600" dirty="0">
                <a:solidFill>
                  <a:srgbClr val="0D1A73"/>
                </a:solidFill>
              </a:rPr>
              <a:t> :Nourhan Abd </a:t>
            </a:r>
            <a:r>
              <a:rPr lang="en-US" sz="3600" dirty="0" err="1">
                <a:solidFill>
                  <a:srgbClr val="0D1A73"/>
                </a:solidFill>
              </a:rPr>
              <a:t>Elgelil</a:t>
            </a:r>
            <a:r>
              <a:rPr lang="en-US" sz="3600" dirty="0">
                <a:solidFill>
                  <a:srgbClr val="0D1A73"/>
                </a:solidFill>
              </a:rPr>
              <a:t> Zayed.</a:t>
            </a:r>
          </a:p>
          <a:p>
            <a:endParaRPr lang="en-US" sz="3600" b="1" dirty="0">
              <a:solidFill>
                <a:schemeClr val="bg1"/>
              </a:solidFill>
            </a:endParaRPr>
          </a:p>
        </p:txBody>
      </p:sp>
      <p:sp>
        <p:nvSpPr>
          <p:cNvPr id="6" name="Rectangle 3">
            <a:extLst>
              <a:ext uri="{FF2B5EF4-FFF2-40B4-BE49-F238E27FC236}">
                <a16:creationId xmlns:a16="http://schemas.microsoft.com/office/drawing/2014/main" id="{ECCBA50F-8FD1-1576-136D-34E1D5CE0B46}"/>
              </a:ext>
            </a:extLst>
          </p:cNvPr>
          <p:cNvSpPr>
            <a:spLocks noChangeArrowheads="1"/>
          </p:cNvSpPr>
          <p:nvPr/>
        </p:nvSpPr>
        <p:spPr bwMode="auto">
          <a:xfrm>
            <a:off x="787940" y="514931"/>
            <a:ext cx="9905276"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002060"/>
                </a:solidFill>
                <a:effectLst/>
                <a:latin typeface="Arial" panose="020B0604020202020204" pitchFamily="34" charset="0"/>
              </a:rPr>
              <a:t>Business Problem</a:t>
            </a:r>
            <a:br>
              <a:rPr kumimoji="0" lang="en-US" altLang="en-US" sz="1800" b="0" i="0" u="none" strike="noStrike" cap="none" normalizeH="0" baseline="0" dirty="0">
                <a:ln>
                  <a:noFill/>
                </a:ln>
                <a:solidFill>
                  <a:srgbClr val="002060"/>
                </a:solidFill>
                <a:effectLst/>
                <a:latin typeface="Arial" panose="020B0604020202020204" pitchFamily="34" charset="0"/>
              </a:rPr>
            </a:br>
            <a:r>
              <a:rPr kumimoji="0" lang="en-US" altLang="en-US" sz="1800" b="0" i="0" u="none" strike="noStrike" cap="none" normalizeH="0" baseline="0" dirty="0">
                <a:ln>
                  <a:noFill/>
                </a:ln>
                <a:solidFill>
                  <a:srgbClr val="002060"/>
                </a:solidFill>
                <a:effectLst/>
                <a:latin typeface="Arial" panose="020B0604020202020204" pitchFamily="34" charset="0"/>
              </a:rPr>
              <a:t>“How can we optimize sales performance across products and regions by identifying key trends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060"/>
                </a:solidFill>
                <a:effectLst/>
                <a:latin typeface="Arial" panose="020B0604020202020204" pitchFamily="34" charset="0"/>
              </a:rPr>
              <a:t> and weaknesses from the Power BI dashboard?</a:t>
            </a:r>
          </a:p>
        </p:txBody>
      </p:sp>
    </p:spTree>
    <p:extLst>
      <p:ext uri="{BB962C8B-B14F-4D97-AF65-F5344CB8AC3E}">
        <p14:creationId xmlns:p14="http://schemas.microsoft.com/office/powerpoint/2010/main" val="281179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CE1820-1ED7-A36F-D858-387757036067}"/>
              </a:ext>
            </a:extLst>
          </p:cNvPr>
          <p:cNvSpPr txBox="1"/>
          <p:nvPr/>
        </p:nvSpPr>
        <p:spPr>
          <a:xfrm>
            <a:off x="771525" y="828675"/>
            <a:ext cx="8372475" cy="5293757"/>
          </a:xfrm>
          <a:prstGeom prst="rect">
            <a:avLst/>
          </a:prstGeom>
          <a:noFill/>
        </p:spPr>
        <p:txBody>
          <a:bodyPr wrap="square">
            <a:spAutoFit/>
          </a:bodyPr>
          <a:lstStyle/>
          <a:p>
            <a:r>
              <a:rPr lang="en-US" sz="4800" b="1" dirty="0">
                <a:solidFill>
                  <a:srgbClr val="002060"/>
                </a:solidFill>
              </a:rPr>
              <a:t>Agenda:</a:t>
            </a:r>
          </a:p>
          <a:p>
            <a:endParaRPr lang="en-US" sz="4800" b="1" dirty="0">
              <a:solidFill>
                <a:srgbClr val="002060"/>
              </a:solidFill>
            </a:endParaRPr>
          </a:p>
          <a:p>
            <a:r>
              <a:rPr lang="en-US" sz="3200" dirty="0">
                <a:solidFill>
                  <a:srgbClr val="002060"/>
                </a:solidFill>
              </a:rPr>
              <a:t>1- Executive Summary.</a:t>
            </a:r>
          </a:p>
          <a:p>
            <a:endParaRPr lang="ar-EG" sz="3200" dirty="0">
              <a:solidFill>
                <a:srgbClr val="002060"/>
              </a:solidFill>
            </a:endParaRPr>
          </a:p>
          <a:p>
            <a:r>
              <a:rPr lang="en-US" sz="3200" dirty="0">
                <a:solidFill>
                  <a:srgbClr val="002060"/>
                </a:solidFill>
              </a:rPr>
              <a:t>2- Key Insights &amp; Performance Overview.</a:t>
            </a:r>
          </a:p>
          <a:p>
            <a:endParaRPr lang="en-US" sz="3200" dirty="0">
              <a:solidFill>
                <a:srgbClr val="002060"/>
              </a:solidFill>
            </a:endParaRPr>
          </a:p>
          <a:p>
            <a:r>
              <a:rPr lang="en-US" sz="3200" dirty="0">
                <a:solidFill>
                  <a:schemeClr val="accent1">
                    <a:lumMod val="50000"/>
                  </a:schemeClr>
                </a:solidFill>
              </a:rPr>
              <a:t>3- </a:t>
            </a:r>
            <a:r>
              <a:rPr lang="en-US" sz="3200" dirty="0">
                <a:solidFill>
                  <a:srgbClr val="002060"/>
                </a:solidFill>
              </a:rPr>
              <a:t>Recommendations for Decision Making.</a:t>
            </a:r>
          </a:p>
          <a:p>
            <a:r>
              <a:rPr lang="en-US" sz="3200" dirty="0">
                <a:solidFill>
                  <a:srgbClr val="002060"/>
                </a:solidFill>
              </a:rPr>
              <a:t> </a:t>
            </a:r>
          </a:p>
          <a:p>
            <a:r>
              <a:rPr lang="en-US" sz="3200" dirty="0">
                <a:solidFill>
                  <a:schemeClr val="accent1">
                    <a:lumMod val="50000"/>
                  </a:schemeClr>
                </a:solidFill>
              </a:rPr>
              <a:t>4- </a:t>
            </a:r>
            <a:r>
              <a:rPr lang="en-US" sz="3200" dirty="0">
                <a:solidFill>
                  <a:srgbClr val="002060"/>
                </a:solidFill>
              </a:rPr>
              <a:t>Conclusion.</a:t>
            </a:r>
            <a:endParaRPr lang="en-US" sz="3200" dirty="0">
              <a:solidFill>
                <a:schemeClr val="accent1">
                  <a:lumMod val="50000"/>
                </a:schemeClr>
              </a:solidFill>
            </a:endParaRPr>
          </a:p>
          <a:p>
            <a:endParaRPr lang="en-US" dirty="0">
              <a:solidFill>
                <a:srgbClr val="002060"/>
              </a:solidFill>
            </a:endParaRPr>
          </a:p>
        </p:txBody>
      </p:sp>
    </p:spTree>
    <p:extLst>
      <p:ext uri="{BB962C8B-B14F-4D97-AF65-F5344CB8AC3E}">
        <p14:creationId xmlns:p14="http://schemas.microsoft.com/office/powerpoint/2010/main" val="1016604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A2808F5-B957-D341-43C6-640839114405}"/>
              </a:ext>
            </a:extLst>
          </p:cNvPr>
          <p:cNvSpPr txBox="1"/>
          <p:nvPr/>
        </p:nvSpPr>
        <p:spPr>
          <a:xfrm>
            <a:off x="3048778" y="2551837"/>
            <a:ext cx="6097554" cy="3416320"/>
          </a:xfrm>
          <a:prstGeom prst="rect">
            <a:avLst/>
          </a:prstGeom>
          <a:noFill/>
        </p:spPr>
        <p:txBody>
          <a:bodyPr wrap="square">
            <a:spAutoFit/>
          </a:bodyPr>
          <a:lstStyle/>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p:txBody>
      </p:sp>
      <p:sp>
        <p:nvSpPr>
          <p:cNvPr id="12" name="TextBox 11">
            <a:extLst>
              <a:ext uri="{FF2B5EF4-FFF2-40B4-BE49-F238E27FC236}">
                <a16:creationId xmlns:a16="http://schemas.microsoft.com/office/drawing/2014/main" id="{39EDC9BE-C104-907C-3922-242957AA5B0E}"/>
              </a:ext>
            </a:extLst>
          </p:cNvPr>
          <p:cNvSpPr txBox="1"/>
          <p:nvPr/>
        </p:nvSpPr>
        <p:spPr>
          <a:xfrm>
            <a:off x="3201178" y="2704237"/>
            <a:ext cx="6097554" cy="3416320"/>
          </a:xfrm>
          <a:prstGeom prst="rect">
            <a:avLst/>
          </a:prstGeom>
          <a:noFill/>
        </p:spPr>
        <p:txBody>
          <a:bodyPr wrap="square">
            <a:spAutoFit/>
          </a:bodyPr>
          <a:lstStyle/>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p:txBody>
      </p:sp>
      <p:sp>
        <p:nvSpPr>
          <p:cNvPr id="13" name="TextBox 12">
            <a:extLst>
              <a:ext uri="{FF2B5EF4-FFF2-40B4-BE49-F238E27FC236}">
                <a16:creationId xmlns:a16="http://schemas.microsoft.com/office/drawing/2014/main" id="{4B76478E-8AC2-6989-5599-A3249FD4C3B7}"/>
              </a:ext>
            </a:extLst>
          </p:cNvPr>
          <p:cNvSpPr txBox="1"/>
          <p:nvPr/>
        </p:nvSpPr>
        <p:spPr>
          <a:xfrm>
            <a:off x="3353578" y="2856637"/>
            <a:ext cx="6097554" cy="3416320"/>
          </a:xfrm>
          <a:prstGeom prst="rect">
            <a:avLst/>
          </a:prstGeom>
          <a:noFill/>
        </p:spPr>
        <p:txBody>
          <a:bodyPr wrap="square">
            <a:spAutoFit/>
          </a:bodyPr>
          <a:lstStyle/>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a:p>
            <a:pPr>
              <a:buNone/>
            </a:pPr>
            <a:r>
              <a:rPr lang="en-US" b="1" dirty="0"/>
              <a:t>1. Executive Summary</a:t>
            </a:r>
          </a:p>
          <a:p>
            <a:r>
              <a:rPr lang="en-US" dirty="0"/>
              <a:t>This report provides an analysis of the sales performance based on key metrics displayed in the Power BI Sales Dashboard. The goal is to identify trends, insights, and actionable recommendations to enhance business decisions.</a:t>
            </a:r>
          </a:p>
        </p:txBody>
      </p:sp>
      <p:sp>
        <p:nvSpPr>
          <p:cNvPr id="16" name="TextBox 15">
            <a:extLst>
              <a:ext uri="{FF2B5EF4-FFF2-40B4-BE49-F238E27FC236}">
                <a16:creationId xmlns:a16="http://schemas.microsoft.com/office/drawing/2014/main" id="{86607C65-64E4-A412-506C-F97CB5EB0964}"/>
              </a:ext>
            </a:extLst>
          </p:cNvPr>
          <p:cNvSpPr txBox="1"/>
          <p:nvPr/>
        </p:nvSpPr>
        <p:spPr>
          <a:xfrm>
            <a:off x="569167" y="68095"/>
            <a:ext cx="11415310" cy="5293757"/>
          </a:xfrm>
          <a:prstGeom prst="rect">
            <a:avLst/>
          </a:prstGeom>
          <a:noFill/>
        </p:spPr>
        <p:txBody>
          <a:bodyPr wrap="square">
            <a:spAutoFit/>
          </a:bodyPr>
          <a:lstStyle/>
          <a:p>
            <a:pPr marL="514350" indent="-514350">
              <a:buAutoNum type="arabicPeriod"/>
            </a:pPr>
            <a:r>
              <a:rPr lang="en-US" sz="2800" b="1" dirty="0">
                <a:solidFill>
                  <a:schemeClr val="accent6">
                    <a:lumMod val="50000"/>
                  </a:schemeClr>
                </a:solidFill>
              </a:rPr>
              <a:t>Executive Summary</a:t>
            </a:r>
            <a:endParaRPr lang="ar-EG" sz="2800" b="1" dirty="0">
              <a:solidFill>
                <a:schemeClr val="accent6">
                  <a:lumMod val="50000"/>
                </a:schemeClr>
              </a:solidFill>
            </a:endParaRPr>
          </a:p>
          <a:p>
            <a:pPr marL="514350" indent="-514350">
              <a:buAutoNum type="arabicPeriod"/>
            </a:pPr>
            <a:endParaRPr lang="en-US" sz="2800" b="1" dirty="0">
              <a:solidFill>
                <a:schemeClr val="accent6">
                  <a:lumMod val="50000"/>
                </a:schemeClr>
              </a:solidFill>
            </a:endParaRPr>
          </a:p>
          <a:p>
            <a:r>
              <a:rPr lang="en-US" dirty="0">
                <a:solidFill>
                  <a:schemeClr val="bg1"/>
                </a:solidFill>
              </a:rPr>
              <a:t>This report provides an analysis of the sales performance based on key metrics displayed in the Power BI Sales Dashboard. </a:t>
            </a:r>
          </a:p>
          <a:p>
            <a:r>
              <a:rPr lang="en-US" dirty="0">
                <a:solidFill>
                  <a:schemeClr val="bg1"/>
                </a:solidFill>
              </a:rPr>
              <a:t>The goal is to identify trends, Insights, and actionable recommendations to enhance business decisions.</a:t>
            </a:r>
          </a:p>
          <a:p>
            <a:endParaRPr lang="en-US" dirty="0">
              <a:solidFill>
                <a:schemeClr val="bg1"/>
              </a:solidFill>
            </a:endParaRPr>
          </a:p>
          <a:p>
            <a:endParaRPr lang="en-US" dirty="0">
              <a:solidFill>
                <a:schemeClr val="bg1"/>
              </a:solidFill>
            </a:endParaRPr>
          </a:p>
          <a:p>
            <a:r>
              <a:rPr lang="en-US" sz="2800" b="1" dirty="0">
                <a:solidFill>
                  <a:schemeClr val="accent1">
                    <a:lumMod val="50000"/>
                  </a:schemeClr>
                </a:solidFill>
              </a:rPr>
              <a:t>2. Key Insights &amp; Performance Overview</a:t>
            </a:r>
            <a:endParaRPr lang="en-US" sz="2800" dirty="0">
              <a:solidFill>
                <a:schemeClr val="accent1">
                  <a:lumMod val="50000"/>
                </a:schemeClr>
              </a:solidFill>
            </a:endParaRPr>
          </a:p>
          <a:p>
            <a:endParaRPr lang="en-US" dirty="0">
              <a:solidFill>
                <a:schemeClr val="bg1"/>
              </a:solidFill>
            </a:endParaRPr>
          </a:p>
          <a:p>
            <a:pPr marL="342900" indent="-342900">
              <a:buAutoNum type="alphaUcPeriod"/>
            </a:pPr>
            <a:r>
              <a:rPr lang="en-US" sz="2000" b="1" dirty="0">
                <a:solidFill>
                  <a:srgbClr val="002060"/>
                </a:solidFill>
              </a:rPr>
              <a:t>Total Sales Performance</a:t>
            </a:r>
          </a:p>
          <a:p>
            <a:pPr marL="342900" indent="-342900">
              <a:buAutoNum type="alphaUcPeriod"/>
            </a:pPr>
            <a:endParaRPr lang="en-US" b="1" dirty="0">
              <a:solidFill>
                <a:schemeClr val="accent6"/>
              </a:solidFill>
            </a:endParaRPr>
          </a:p>
          <a:p>
            <a:pPr>
              <a:buNone/>
            </a:pPr>
            <a:r>
              <a:rPr lang="en-US" dirty="0">
                <a:solidFill>
                  <a:schemeClr val="bg1"/>
                </a:solidFill>
              </a:rPr>
              <a:t>The total revenue generated during the analyzed period is</a:t>
            </a:r>
            <a:r>
              <a:rPr lang="en-US" dirty="0">
                <a:solidFill>
                  <a:srgbClr val="002060"/>
                </a:solidFill>
              </a:rPr>
              <a:t> </a:t>
            </a:r>
            <a:r>
              <a:rPr lang="en-US" b="1" dirty="0">
                <a:solidFill>
                  <a:srgbClr val="002060"/>
                </a:solidFill>
              </a:rPr>
              <a:t>$213.77K</a:t>
            </a:r>
            <a:r>
              <a:rPr lang="en-US" dirty="0">
                <a:solidFill>
                  <a:srgbClr val="002060"/>
                </a:solidFill>
              </a:rPr>
              <a:t>.</a:t>
            </a:r>
          </a:p>
          <a:p>
            <a:r>
              <a:rPr lang="en-US" dirty="0">
                <a:solidFill>
                  <a:schemeClr val="bg1"/>
                </a:solidFill>
              </a:rPr>
              <a:t>The revenue trend shows a </a:t>
            </a:r>
            <a:r>
              <a:rPr lang="en-US" b="1" dirty="0">
                <a:solidFill>
                  <a:schemeClr val="bg1"/>
                </a:solidFill>
              </a:rPr>
              <a:t>decrease of </a:t>
            </a:r>
            <a:r>
              <a:rPr lang="en-US" b="1" dirty="0">
                <a:solidFill>
                  <a:srgbClr val="002060"/>
                </a:solidFill>
              </a:rPr>
              <a:t>15.3%</a:t>
            </a:r>
            <a:r>
              <a:rPr lang="en-US" dirty="0">
                <a:solidFill>
                  <a:srgbClr val="002060"/>
                </a:solidFill>
              </a:rPr>
              <a:t> </a:t>
            </a:r>
            <a:r>
              <a:rPr lang="en-US" dirty="0">
                <a:solidFill>
                  <a:schemeClr val="bg1"/>
                </a:solidFill>
              </a:rPr>
              <a:t>compared to the previous period, where the total sales before the discount were </a:t>
            </a:r>
            <a:r>
              <a:rPr lang="en-US" b="1" dirty="0">
                <a:solidFill>
                  <a:srgbClr val="002060"/>
                </a:solidFill>
              </a:rPr>
              <a:t>$252.35K</a:t>
            </a:r>
            <a:r>
              <a:rPr lang="en-US" dirty="0">
                <a:solidFill>
                  <a:schemeClr val="bg1"/>
                </a:solidFill>
              </a:rPr>
              <a:t>.</a:t>
            </a:r>
            <a:endParaRPr lang="ar-EG" dirty="0">
              <a:solidFill>
                <a:schemeClr val="bg1"/>
              </a:solidFill>
            </a:endParaRPr>
          </a:p>
          <a:p>
            <a:endParaRPr lang="ar-EG" dirty="0">
              <a:solidFill>
                <a:schemeClr val="bg1"/>
              </a:solidFill>
            </a:endParaRPr>
          </a:p>
          <a:p>
            <a:endParaRPr lang="ar-EG" dirty="0">
              <a:solidFill>
                <a:schemeClr val="bg1"/>
              </a:solidFill>
            </a:endParaRPr>
          </a:p>
          <a:p>
            <a:endParaRPr lang="en-US" dirty="0">
              <a:solidFill>
                <a:schemeClr val="bg1"/>
              </a:solidFill>
            </a:endParaRPr>
          </a:p>
        </p:txBody>
      </p:sp>
      <p:pic>
        <p:nvPicPr>
          <p:cNvPr id="3" name="Picture 2">
            <a:extLst>
              <a:ext uri="{FF2B5EF4-FFF2-40B4-BE49-F238E27FC236}">
                <a16:creationId xmlns:a16="http://schemas.microsoft.com/office/drawing/2014/main" id="{CB506919-751E-7072-F28A-BAAE11BA9BFF}"/>
              </a:ext>
            </a:extLst>
          </p:cNvPr>
          <p:cNvPicPr>
            <a:picLocks noChangeAspect="1"/>
          </p:cNvPicPr>
          <p:nvPr/>
        </p:nvPicPr>
        <p:blipFill>
          <a:blip r:embed="rId2"/>
          <a:stretch>
            <a:fillRect/>
          </a:stretch>
        </p:blipFill>
        <p:spPr>
          <a:xfrm>
            <a:off x="569167" y="4977002"/>
            <a:ext cx="11165633" cy="1538098"/>
          </a:xfrm>
          <a:prstGeom prst="rect">
            <a:avLst/>
          </a:prstGeom>
        </p:spPr>
      </p:pic>
    </p:spTree>
    <p:extLst>
      <p:ext uri="{BB962C8B-B14F-4D97-AF65-F5344CB8AC3E}">
        <p14:creationId xmlns:p14="http://schemas.microsoft.com/office/powerpoint/2010/main" val="2662255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0F0AADD-E824-7F20-5B7F-24B9F7AD9554}"/>
              </a:ext>
            </a:extLst>
          </p:cNvPr>
          <p:cNvPicPr>
            <a:picLocks noChangeAspect="1"/>
          </p:cNvPicPr>
          <p:nvPr/>
        </p:nvPicPr>
        <p:blipFill>
          <a:blip r:embed="rId2"/>
          <a:stretch>
            <a:fillRect/>
          </a:stretch>
        </p:blipFill>
        <p:spPr>
          <a:xfrm>
            <a:off x="7258050" y="2872880"/>
            <a:ext cx="3772087" cy="2912100"/>
          </a:xfrm>
          <a:prstGeom prst="rect">
            <a:avLst/>
          </a:prstGeom>
        </p:spPr>
      </p:pic>
      <p:sp>
        <p:nvSpPr>
          <p:cNvPr id="11" name="TextBox 10">
            <a:extLst>
              <a:ext uri="{FF2B5EF4-FFF2-40B4-BE49-F238E27FC236}">
                <a16:creationId xmlns:a16="http://schemas.microsoft.com/office/drawing/2014/main" id="{6D480CE4-A236-20F2-E6D3-DBD0373B2429}"/>
              </a:ext>
            </a:extLst>
          </p:cNvPr>
          <p:cNvSpPr txBox="1"/>
          <p:nvPr/>
        </p:nvSpPr>
        <p:spPr>
          <a:xfrm>
            <a:off x="295275" y="628650"/>
            <a:ext cx="6962775" cy="2092881"/>
          </a:xfrm>
          <a:prstGeom prst="rect">
            <a:avLst/>
          </a:prstGeom>
          <a:noFill/>
        </p:spPr>
        <p:txBody>
          <a:bodyPr wrap="square">
            <a:spAutoFit/>
          </a:bodyPr>
          <a:lstStyle/>
          <a:p>
            <a:endParaRPr lang="ar-EG" dirty="0">
              <a:solidFill>
                <a:schemeClr val="bg1"/>
              </a:solidFill>
            </a:endParaRPr>
          </a:p>
          <a:p>
            <a:pPr>
              <a:buNone/>
            </a:pPr>
            <a:r>
              <a:rPr lang="en-US" sz="2000" b="1" dirty="0">
                <a:solidFill>
                  <a:srgbClr val="002060"/>
                </a:solidFill>
              </a:rPr>
              <a:t>B. Sales by Region</a:t>
            </a:r>
          </a:p>
          <a:p>
            <a:pPr>
              <a:buNone/>
            </a:pPr>
            <a:endParaRPr lang="en-US" sz="2000" b="1" dirty="0">
              <a:solidFill>
                <a:srgbClr val="0070C0"/>
              </a:solidFill>
            </a:endParaRPr>
          </a:p>
          <a:p>
            <a:pPr>
              <a:buFont typeface="Arial" panose="020B0604020202020204" pitchFamily="34" charset="0"/>
              <a:buChar char="•"/>
            </a:pPr>
            <a:r>
              <a:rPr lang="en-US" dirty="0">
                <a:solidFill>
                  <a:schemeClr val="bg1"/>
                </a:solidFill>
              </a:rPr>
              <a:t>The highest-performing region is </a:t>
            </a:r>
            <a:r>
              <a:rPr lang="en-US" b="1" dirty="0">
                <a:solidFill>
                  <a:srgbClr val="002060"/>
                </a:solidFill>
              </a:rPr>
              <a:t>North</a:t>
            </a:r>
            <a:r>
              <a:rPr lang="en-US" dirty="0">
                <a:solidFill>
                  <a:schemeClr val="bg1"/>
                </a:solidFill>
              </a:rPr>
              <a:t>, contributing </a:t>
            </a:r>
            <a:r>
              <a:rPr lang="en-US" b="1" dirty="0">
                <a:solidFill>
                  <a:srgbClr val="002060"/>
                </a:solidFill>
              </a:rPr>
              <a:t>28.67%</a:t>
            </a:r>
            <a:r>
              <a:rPr lang="en-US" dirty="0">
                <a:solidFill>
                  <a:srgbClr val="002060"/>
                </a:solidFill>
              </a:rPr>
              <a:t> </a:t>
            </a:r>
            <a:r>
              <a:rPr lang="en-US" dirty="0">
                <a:solidFill>
                  <a:schemeClr val="bg1"/>
                </a:solidFill>
              </a:rPr>
              <a:t>to total sales.</a:t>
            </a:r>
            <a:br>
              <a:rPr lang="en-US" dirty="0">
                <a:solidFill>
                  <a:schemeClr val="bg1"/>
                </a:solidFill>
              </a:rPr>
            </a:br>
            <a:r>
              <a:rPr lang="en-US" dirty="0">
                <a:solidFill>
                  <a:schemeClr val="bg1"/>
                </a:solidFill>
              </a:rPr>
              <a:t>The lowest-performing region is </a:t>
            </a:r>
            <a:r>
              <a:rPr lang="en-US" b="1" dirty="0">
                <a:solidFill>
                  <a:srgbClr val="002060"/>
                </a:solidFill>
              </a:rPr>
              <a:t>South</a:t>
            </a:r>
            <a:r>
              <a:rPr lang="en-US" dirty="0">
                <a:solidFill>
                  <a:schemeClr val="bg1"/>
                </a:solidFill>
              </a:rPr>
              <a:t>, indicating potential areas for improvement.</a:t>
            </a:r>
          </a:p>
        </p:txBody>
      </p:sp>
    </p:spTree>
    <p:extLst>
      <p:ext uri="{BB962C8B-B14F-4D97-AF65-F5344CB8AC3E}">
        <p14:creationId xmlns:p14="http://schemas.microsoft.com/office/powerpoint/2010/main" val="648931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07914D-9B62-F5BA-A82D-8E1A7325EC72}"/>
              </a:ext>
            </a:extLst>
          </p:cNvPr>
          <p:cNvSpPr txBox="1"/>
          <p:nvPr/>
        </p:nvSpPr>
        <p:spPr>
          <a:xfrm>
            <a:off x="569167" y="410547"/>
            <a:ext cx="11318033" cy="5755422"/>
          </a:xfrm>
          <a:prstGeom prst="rect">
            <a:avLst/>
          </a:prstGeom>
          <a:noFill/>
        </p:spPr>
        <p:txBody>
          <a:bodyPr wrap="square">
            <a:spAutoFit/>
          </a:bodyPr>
          <a:lstStyle/>
          <a:p>
            <a:pPr>
              <a:buNone/>
            </a:pPr>
            <a:r>
              <a:rPr lang="en-US" sz="2000" b="1" dirty="0">
                <a:solidFill>
                  <a:srgbClr val="002060"/>
                </a:solidFill>
              </a:rPr>
              <a:t>C. Product Performance</a:t>
            </a:r>
            <a:endParaRPr lang="ar-EG" sz="2000" b="1" dirty="0">
              <a:solidFill>
                <a:srgbClr val="002060"/>
              </a:solidFill>
            </a:endParaRPr>
          </a:p>
          <a:p>
            <a:pPr>
              <a:buNone/>
            </a:pPr>
            <a:endParaRPr lang="en-US" dirty="0">
              <a:solidFill>
                <a:srgbClr val="0070C0"/>
              </a:solidFill>
            </a:endParaRPr>
          </a:p>
          <a:p>
            <a:pPr>
              <a:buFont typeface="Arial" panose="020B0604020202020204" pitchFamily="34" charset="0"/>
              <a:buChar char="•"/>
            </a:pPr>
            <a:r>
              <a:rPr lang="ar-EG" dirty="0">
                <a:solidFill>
                  <a:schemeClr val="bg1"/>
                </a:solidFill>
              </a:rPr>
              <a:t> </a:t>
            </a:r>
            <a:r>
              <a:rPr lang="en-US" sz="2000" dirty="0">
                <a:solidFill>
                  <a:schemeClr val="bg1"/>
                </a:solidFill>
              </a:rPr>
              <a:t>The best-selling product is </a:t>
            </a:r>
            <a:r>
              <a:rPr lang="en-US" sz="2000" b="1" dirty="0">
                <a:solidFill>
                  <a:srgbClr val="0D1A73"/>
                </a:solidFill>
              </a:rPr>
              <a:t>Smartphone</a:t>
            </a:r>
            <a:r>
              <a:rPr lang="en-US" sz="2000" dirty="0">
                <a:solidFill>
                  <a:schemeClr val="bg1"/>
                </a:solidFill>
              </a:rPr>
              <a:t>, accounting for </a:t>
            </a:r>
            <a:r>
              <a:rPr lang="en-US" sz="2000" b="1" dirty="0">
                <a:solidFill>
                  <a:srgbClr val="002060"/>
                </a:solidFill>
              </a:rPr>
              <a:t>12.38%</a:t>
            </a:r>
            <a:r>
              <a:rPr lang="en-US" sz="2000" dirty="0">
                <a:solidFill>
                  <a:srgbClr val="002060"/>
                </a:solidFill>
              </a:rPr>
              <a:t> </a:t>
            </a:r>
            <a:r>
              <a:rPr lang="en-US" sz="2000" dirty="0">
                <a:solidFill>
                  <a:schemeClr val="bg1"/>
                </a:solidFill>
              </a:rPr>
              <a:t>of total sales.</a:t>
            </a:r>
          </a:p>
          <a:p>
            <a:pPr>
              <a:buFont typeface="Arial" panose="020B0604020202020204" pitchFamily="34" charset="0"/>
              <a:buChar char="•"/>
            </a:pPr>
            <a:r>
              <a:rPr lang="ar-EG" sz="2000" dirty="0">
                <a:solidFill>
                  <a:schemeClr val="bg1"/>
                </a:solidFill>
              </a:rPr>
              <a:t> </a:t>
            </a:r>
            <a:r>
              <a:rPr lang="en-US" sz="2000" dirty="0">
                <a:solidFill>
                  <a:schemeClr val="bg1"/>
                </a:solidFill>
              </a:rPr>
              <a:t>The least-performing product is </a:t>
            </a:r>
            <a:r>
              <a:rPr lang="en-US" sz="2000" b="1" dirty="0">
                <a:solidFill>
                  <a:srgbClr val="002060"/>
                </a:solidFill>
              </a:rPr>
              <a:t>Pen</a:t>
            </a:r>
            <a:r>
              <a:rPr lang="en-US" sz="2000" dirty="0">
                <a:solidFill>
                  <a:schemeClr val="bg1"/>
                </a:solidFill>
              </a:rPr>
              <a:t>, with sales </a:t>
            </a:r>
            <a:r>
              <a:rPr lang="en-US" sz="2000" dirty="0">
                <a:solidFill>
                  <a:srgbClr val="002060"/>
                </a:solidFill>
              </a:rPr>
              <a:t>of </a:t>
            </a:r>
            <a:r>
              <a:rPr lang="en-US" sz="2000" b="1" dirty="0">
                <a:solidFill>
                  <a:srgbClr val="002060"/>
                </a:solidFill>
              </a:rPr>
              <a:t>5.79%</a:t>
            </a:r>
            <a:r>
              <a:rPr lang="en-US" sz="2000" dirty="0">
                <a:solidFill>
                  <a:srgbClr val="002060"/>
                </a:solidFill>
              </a:rPr>
              <a:t>, </a:t>
            </a:r>
            <a:r>
              <a:rPr lang="en-US" sz="2000" dirty="0">
                <a:solidFill>
                  <a:schemeClr val="bg1"/>
                </a:solidFill>
              </a:rPr>
              <a:t>requiring strategic intervention.</a:t>
            </a: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dirty="0">
              <a:solidFill>
                <a:schemeClr val="bg1"/>
              </a:solidFill>
            </a:endParaRPr>
          </a:p>
          <a:p>
            <a:pPr>
              <a:buFont typeface="Arial" panose="020B0604020202020204" pitchFamily="34" charset="0"/>
              <a:buChar char="•"/>
            </a:pPr>
            <a:endParaRPr lang="en-US" sz="2000" dirty="0">
              <a:solidFill>
                <a:schemeClr val="bg1"/>
              </a:solidFill>
            </a:endParaRPr>
          </a:p>
          <a:p>
            <a:pPr>
              <a:buFont typeface="Arial" panose="020B0604020202020204" pitchFamily="34" charset="0"/>
              <a:buChar char="•"/>
            </a:pPr>
            <a:endParaRPr lang="ar-EG" dirty="0">
              <a:solidFill>
                <a:schemeClr val="bg1"/>
              </a:solidFill>
            </a:endParaRPr>
          </a:p>
          <a:p>
            <a:pPr>
              <a:buFont typeface="Arial" panose="020B0604020202020204" pitchFamily="34" charset="0"/>
              <a:buChar char="•"/>
            </a:pPr>
            <a:endParaRPr lang="ar-EG" dirty="0">
              <a:solidFill>
                <a:schemeClr val="bg1"/>
              </a:solidFill>
            </a:endParaRPr>
          </a:p>
          <a:p>
            <a:pPr>
              <a:buFont typeface="Arial" panose="020B0604020202020204" pitchFamily="34" charset="0"/>
              <a:buChar char="•"/>
            </a:pPr>
            <a:endParaRPr lang="en-US" dirty="0">
              <a:solidFill>
                <a:schemeClr val="bg1"/>
              </a:solidFill>
            </a:endParaRPr>
          </a:p>
        </p:txBody>
      </p:sp>
      <p:pic>
        <p:nvPicPr>
          <p:cNvPr id="8" name="Picture 7">
            <a:extLst>
              <a:ext uri="{FF2B5EF4-FFF2-40B4-BE49-F238E27FC236}">
                <a16:creationId xmlns:a16="http://schemas.microsoft.com/office/drawing/2014/main" id="{DBCB71D4-7319-327D-B775-43522F4964EC}"/>
              </a:ext>
            </a:extLst>
          </p:cNvPr>
          <p:cNvPicPr>
            <a:picLocks noChangeAspect="1"/>
          </p:cNvPicPr>
          <p:nvPr/>
        </p:nvPicPr>
        <p:blipFill>
          <a:blip r:embed="rId2"/>
          <a:stretch>
            <a:fillRect/>
          </a:stretch>
        </p:blipFill>
        <p:spPr>
          <a:xfrm>
            <a:off x="1622845" y="2036040"/>
            <a:ext cx="8582025" cy="4129929"/>
          </a:xfrm>
          <a:prstGeom prst="rect">
            <a:avLst/>
          </a:prstGeom>
        </p:spPr>
      </p:pic>
    </p:spTree>
    <p:extLst>
      <p:ext uri="{BB962C8B-B14F-4D97-AF65-F5344CB8AC3E}">
        <p14:creationId xmlns:p14="http://schemas.microsoft.com/office/powerpoint/2010/main" val="3208872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C7F0A3-5775-FAEA-CF90-A13910F4CAC5}"/>
              </a:ext>
            </a:extLst>
          </p:cNvPr>
          <p:cNvSpPr txBox="1"/>
          <p:nvPr/>
        </p:nvSpPr>
        <p:spPr>
          <a:xfrm>
            <a:off x="266701" y="400050"/>
            <a:ext cx="11325224" cy="1754326"/>
          </a:xfrm>
          <a:prstGeom prst="rect">
            <a:avLst/>
          </a:prstGeom>
          <a:noFill/>
        </p:spPr>
        <p:txBody>
          <a:bodyPr wrap="square">
            <a:spAutoFit/>
          </a:bodyPr>
          <a:lstStyle/>
          <a:p>
            <a:pPr>
              <a:buNone/>
            </a:pPr>
            <a:r>
              <a:rPr lang="en-US" sz="1800" b="1" dirty="0">
                <a:solidFill>
                  <a:srgbClr val="002060"/>
                </a:solidFill>
              </a:rPr>
              <a:t>D. Sales Trends &amp; Seasonality Analysis</a:t>
            </a:r>
          </a:p>
          <a:p>
            <a:pPr>
              <a:buNone/>
            </a:pPr>
            <a:endParaRPr lang="en-US" sz="1800" dirty="0">
              <a:solidFill>
                <a:srgbClr val="0070C0"/>
              </a:solidFill>
            </a:endParaRPr>
          </a:p>
          <a:p>
            <a:pPr>
              <a:buFont typeface="Arial" panose="020B0604020202020204" pitchFamily="34" charset="0"/>
              <a:buChar char="•"/>
            </a:pPr>
            <a:r>
              <a:rPr lang="en-US" sz="1800" dirty="0">
                <a:solidFill>
                  <a:schemeClr val="bg1"/>
                </a:solidFill>
              </a:rPr>
              <a:t>The peak sales period was observed in </a:t>
            </a:r>
            <a:r>
              <a:rPr lang="en-US" sz="1800" b="1" dirty="0">
                <a:solidFill>
                  <a:srgbClr val="002060"/>
                </a:solidFill>
              </a:rPr>
              <a:t>November (11)</a:t>
            </a:r>
            <a:r>
              <a:rPr lang="en-US" sz="1800" dirty="0">
                <a:solidFill>
                  <a:srgbClr val="002060"/>
                </a:solidFill>
              </a:rPr>
              <a:t>, </a:t>
            </a:r>
            <a:r>
              <a:rPr lang="en-US" sz="1800" dirty="0">
                <a:solidFill>
                  <a:schemeClr val="bg1"/>
                </a:solidFill>
              </a:rPr>
              <a:t>with total sales of</a:t>
            </a:r>
            <a:r>
              <a:rPr lang="en-US" sz="1800" dirty="0">
                <a:solidFill>
                  <a:srgbClr val="002060"/>
                </a:solidFill>
              </a:rPr>
              <a:t> </a:t>
            </a:r>
            <a:r>
              <a:rPr lang="en-US" sz="1800" b="1" dirty="0">
                <a:solidFill>
                  <a:srgbClr val="002060"/>
                </a:solidFill>
              </a:rPr>
              <a:t>$27,205.39</a:t>
            </a:r>
            <a:r>
              <a:rPr lang="en-US" sz="1800" dirty="0">
                <a:solidFill>
                  <a:schemeClr val="bg1"/>
                </a:solidFill>
              </a:rPr>
              <a:t>, indicating strong seasonal demand.</a:t>
            </a:r>
          </a:p>
          <a:p>
            <a:pPr>
              <a:buFont typeface="Arial" panose="020B0604020202020204" pitchFamily="34" charset="0"/>
              <a:buChar char="•"/>
            </a:pPr>
            <a:r>
              <a:rPr lang="en-US" sz="1800" dirty="0">
                <a:solidFill>
                  <a:schemeClr val="bg1"/>
                </a:solidFill>
              </a:rPr>
              <a:t>The lowest sales were recorded in </a:t>
            </a:r>
            <a:r>
              <a:rPr lang="en-US" sz="1800" b="1" dirty="0">
                <a:solidFill>
                  <a:srgbClr val="002060"/>
                </a:solidFill>
              </a:rPr>
              <a:t>January (1)</a:t>
            </a:r>
            <a:r>
              <a:rPr lang="en-US" sz="1800" dirty="0">
                <a:solidFill>
                  <a:srgbClr val="002060"/>
                </a:solidFill>
              </a:rPr>
              <a:t>, </a:t>
            </a:r>
            <a:r>
              <a:rPr lang="en-US" sz="1800" dirty="0">
                <a:solidFill>
                  <a:schemeClr val="bg1"/>
                </a:solidFill>
              </a:rPr>
              <a:t>with total sales of </a:t>
            </a:r>
            <a:r>
              <a:rPr lang="en-US" sz="1800" b="1" dirty="0">
                <a:solidFill>
                  <a:srgbClr val="002060"/>
                </a:solidFill>
              </a:rPr>
              <a:t>$11,334.76</a:t>
            </a:r>
            <a:r>
              <a:rPr lang="en-US" sz="1800" dirty="0">
                <a:solidFill>
                  <a:schemeClr val="bg1"/>
                </a:solidFill>
              </a:rPr>
              <a:t>, requiring targeted marketing efforts to improve performance.</a:t>
            </a:r>
          </a:p>
        </p:txBody>
      </p:sp>
      <p:pic>
        <p:nvPicPr>
          <p:cNvPr id="13" name="Picture 12">
            <a:extLst>
              <a:ext uri="{FF2B5EF4-FFF2-40B4-BE49-F238E27FC236}">
                <a16:creationId xmlns:a16="http://schemas.microsoft.com/office/drawing/2014/main" id="{178FEF00-0CC6-06A7-A8C2-16A412914D06}"/>
              </a:ext>
            </a:extLst>
          </p:cNvPr>
          <p:cNvPicPr>
            <a:picLocks noChangeAspect="1"/>
          </p:cNvPicPr>
          <p:nvPr/>
        </p:nvPicPr>
        <p:blipFill>
          <a:blip r:embed="rId2"/>
          <a:stretch>
            <a:fillRect/>
          </a:stretch>
        </p:blipFill>
        <p:spPr>
          <a:xfrm>
            <a:off x="371475" y="2562225"/>
            <a:ext cx="11048999" cy="3552824"/>
          </a:xfrm>
          <a:prstGeom prst="rect">
            <a:avLst/>
          </a:prstGeom>
        </p:spPr>
      </p:pic>
    </p:spTree>
    <p:extLst>
      <p:ext uri="{BB962C8B-B14F-4D97-AF65-F5344CB8AC3E}">
        <p14:creationId xmlns:p14="http://schemas.microsoft.com/office/powerpoint/2010/main" val="240188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99B21F-1F03-13DD-4EBD-594618794348}"/>
              </a:ext>
            </a:extLst>
          </p:cNvPr>
          <p:cNvSpPr txBox="1"/>
          <p:nvPr/>
        </p:nvSpPr>
        <p:spPr>
          <a:xfrm>
            <a:off x="314325" y="257175"/>
            <a:ext cx="11458575" cy="4924425"/>
          </a:xfrm>
          <a:prstGeom prst="rect">
            <a:avLst/>
          </a:prstGeom>
          <a:noFill/>
        </p:spPr>
        <p:txBody>
          <a:bodyPr wrap="square">
            <a:spAutoFit/>
          </a:bodyPr>
          <a:lstStyle/>
          <a:p>
            <a:r>
              <a:rPr lang="en-US" sz="2800" dirty="0">
                <a:solidFill>
                  <a:srgbClr val="002060"/>
                </a:solidFill>
              </a:rPr>
              <a:t>3. Recommendations for Decision Making </a:t>
            </a:r>
          </a:p>
          <a:p>
            <a:endParaRPr lang="ar-EG" sz="2800" dirty="0">
              <a:solidFill>
                <a:srgbClr val="0070C0"/>
              </a:solidFill>
            </a:endParaRPr>
          </a:p>
          <a:p>
            <a:endParaRPr lang="ar-EG" dirty="0">
              <a:solidFill>
                <a:schemeClr val="bg1"/>
              </a:solidFill>
            </a:endParaRPr>
          </a:p>
          <a:p>
            <a:r>
              <a:rPr lang="en-US" dirty="0">
                <a:solidFill>
                  <a:schemeClr val="bg1"/>
                </a:solidFill>
              </a:rPr>
              <a:t>1- Boost sales in underperforming regions (e.g., South) by offering region-specific promotions, discounts, and personalized marketing campaigns. Consider partnerships with local distributors to increase reach.</a:t>
            </a:r>
          </a:p>
          <a:p>
            <a:endParaRPr lang="en-US" dirty="0">
              <a:solidFill>
                <a:schemeClr val="bg1"/>
              </a:solidFill>
            </a:endParaRPr>
          </a:p>
          <a:p>
            <a:r>
              <a:rPr lang="en-US" dirty="0">
                <a:solidFill>
                  <a:schemeClr val="bg1"/>
                </a:solidFill>
              </a:rPr>
              <a:t>2-  </a:t>
            </a:r>
            <a:r>
              <a:rPr lang="ar-EG" dirty="0">
                <a:solidFill>
                  <a:schemeClr val="bg1"/>
                </a:solidFill>
              </a:rPr>
              <a:t> </a:t>
            </a:r>
            <a:r>
              <a:rPr lang="en-US" dirty="0">
                <a:solidFill>
                  <a:schemeClr val="bg1"/>
                </a:solidFill>
              </a:rPr>
              <a:t>Enhance product strategy by optimizing inventory management. Increase stock for high-demand products and reconsider pricing, bundling, or discontinuation strategies for low-performing.</a:t>
            </a:r>
          </a:p>
          <a:p>
            <a:endParaRPr lang="en-US" dirty="0">
              <a:solidFill>
                <a:schemeClr val="bg1"/>
              </a:solidFill>
            </a:endParaRPr>
          </a:p>
          <a:p>
            <a:r>
              <a:rPr lang="en-US" dirty="0">
                <a:solidFill>
                  <a:schemeClr val="bg1"/>
                </a:solidFill>
              </a:rPr>
              <a:t>3-  Improve customer retention strategies by introducing loyalty programs, special discounts for repeat customers, and targeted email marketing campaigns to increase engagement.</a:t>
            </a:r>
          </a:p>
          <a:p>
            <a:endParaRPr lang="en-US" dirty="0">
              <a:solidFill>
                <a:schemeClr val="bg1"/>
              </a:solidFill>
            </a:endParaRPr>
          </a:p>
          <a:p>
            <a:r>
              <a:rPr lang="en-US" dirty="0">
                <a:solidFill>
                  <a:schemeClr val="bg1"/>
                </a:solidFill>
              </a:rPr>
              <a:t>4- Capitalize on seasonal trends by launching pre-season promotional campaigns. Since November showed peak sales, campaigns should start in October to maximize revenue. Offer limited-time </a:t>
            </a:r>
            <a:r>
              <a:rPr lang="en-US" dirty="0"/>
              <a:t>bundles or holiday </a:t>
            </a:r>
          </a:p>
          <a:p>
            <a:endParaRPr lang="en-US" dirty="0">
              <a:solidFill>
                <a:schemeClr val="bg1"/>
              </a:solidFill>
            </a:endParaRPr>
          </a:p>
          <a:p>
            <a:r>
              <a:rPr lang="en-US" sz="2400" dirty="0"/>
              <a:t>discounts</a:t>
            </a:r>
            <a:r>
              <a:rPr lang="en-US" dirty="0"/>
              <a:t>.</a:t>
            </a:r>
          </a:p>
        </p:txBody>
      </p:sp>
    </p:spTree>
    <p:extLst>
      <p:ext uri="{BB962C8B-B14F-4D97-AF65-F5344CB8AC3E}">
        <p14:creationId xmlns:p14="http://schemas.microsoft.com/office/powerpoint/2010/main" val="1849422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588BD8-CFBF-0EB9-4AEE-DF6B9FA3524F}"/>
              </a:ext>
            </a:extLst>
          </p:cNvPr>
          <p:cNvSpPr txBox="1"/>
          <p:nvPr/>
        </p:nvSpPr>
        <p:spPr>
          <a:xfrm>
            <a:off x="342899" y="257173"/>
            <a:ext cx="11572875" cy="4278094"/>
          </a:xfrm>
          <a:prstGeom prst="rect">
            <a:avLst/>
          </a:prstGeom>
          <a:noFill/>
        </p:spPr>
        <p:txBody>
          <a:bodyPr wrap="square">
            <a:spAutoFit/>
          </a:bodyPr>
          <a:lstStyle/>
          <a:p>
            <a:r>
              <a:rPr lang="en-US" sz="2800" dirty="0">
                <a:solidFill>
                  <a:srgbClr val="002060"/>
                </a:solidFill>
              </a:rPr>
              <a:t>4. Conclusion</a:t>
            </a:r>
          </a:p>
          <a:p>
            <a:endParaRPr lang="en-US" sz="2800" dirty="0">
              <a:solidFill>
                <a:srgbClr val="0070C0"/>
              </a:solidFill>
            </a:endParaRPr>
          </a:p>
          <a:p>
            <a:endParaRPr lang="en-US" dirty="0">
              <a:solidFill>
                <a:schemeClr val="bg1"/>
              </a:solidFill>
            </a:endParaRPr>
          </a:p>
          <a:p>
            <a:r>
              <a:rPr lang="en-US" dirty="0">
                <a:solidFill>
                  <a:schemeClr val="bg1"/>
                </a:solidFill>
              </a:rPr>
              <a:t>The Sales Dashboard highlights critical trends that can drive business growth. By acting on the recommendations provided, the company can optimize its sales strategy, enhance customer satisfaction, and maximize revenue generation.</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sz="2400" dirty="0">
                <a:solidFill>
                  <a:srgbClr val="002060"/>
                </a:solidFill>
              </a:rPr>
              <a:t>This report has been generated based on the available data from the Sales Dashboard. Further analysis and deeper segmentation can be conducted for more granular insights.</a:t>
            </a:r>
          </a:p>
          <a:p>
            <a:endParaRPr lang="en-US" dirty="0">
              <a:solidFill>
                <a:srgbClr val="002060"/>
              </a:solidFill>
            </a:endParaRPr>
          </a:p>
        </p:txBody>
      </p:sp>
    </p:spTree>
    <p:extLst>
      <p:ext uri="{BB962C8B-B14F-4D97-AF65-F5344CB8AC3E}">
        <p14:creationId xmlns:p14="http://schemas.microsoft.com/office/powerpoint/2010/main" val="33109407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2.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{CD0323EC-38AC-4142-AF82-6C97ABDCA051}tf11665031_win32</Template>
  <TotalTime>746</TotalTime>
  <Words>721</Words>
  <Application>Microsoft Office PowerPoint</Application>
  <PresentationFormat>Widescreen</PresentationFormat>
  <Paragraphs>88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Nova</vt:lpstr>
      <vt:lpstr>Arial Nova Light</vt:lpstr>
      <vt:lpstr>Wingdings 2</vt:lpstr>
      <vt:lpstr>SlateVTI</vt:lpstr>
      <vt:lpstr>Here is Business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Nourhan AbdElGelil Ahmed Zayed</dc:creator>
  <cp:lastModifiedBy>Nourhan AbdElGelil Ahmed Zayed</cp:lastModifiedBy>
  <cp:revision>5</cp:revision>
  <dcterms:created xsi:type="dcterms:W3CDTF">2025-03-18T20:37:16Z</dcterms:created>
  <dcterms:modified xsi:type="dcterms:W3CDTF">2025-04-15T17:47:12Z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